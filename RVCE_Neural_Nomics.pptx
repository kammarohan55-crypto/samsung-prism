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Overlock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verlock-bold.fntdata"/><Relationship Id="rId14" Type="http://schemas.openxmlformats.org/officeDocument/2006/relationships/font" Target="fonts/Overlock-regular.fntdata"/><Relationship Id="rId17" Type="http://schemas.openxmlformats.org/officeDocument/2006/relationships/font" Target="fonts/Overlock-boldItalic.fntdata"/><Relationship Id="rId16" Type="http://schemas.openxmlformats.org/officeDocument/2006/relationships/font" Target="fonts/Overlock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0" Type="http://schemas.openxmlformats.org/officeDocument/2006/relationships/hyperlink" Target="https://github.com/?utm_source=chatgpt.com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slack.com/?utm_source=chatgpt.com" TargetMode="External"/><Relationship Id="rId4" Type="http://schemas.openxmlformats.org/officeDocument/2006/relationships/hyperlink" Target="https://slack.com/?utm_source=chatgpt.com" TargetMode="External"/><Relationship Id="rId9" Type="http://schemas.openxmlformats.org/officeDocument/2006/relationships/hyperlink" Target="https://github.com/?utm_source=chatgpt.com" TargetMode="External"/><Relationship Id="rId5" Type="http://schemas.openxmlformats.org/officeDocument/2006/relationships/hyperlink" Target="https://www.atlassian.com/software/jira?utm_source=chatgpt.com" TargetMode="External"/><Relationship Id="rId6" Type="http://schemas.openxmlformats.org/officeDocument/2006/relationships/hyperlink" Target="https://www.atlassian.com/software/jira?utm_source=chatgpt.com" TargetMode="External"/><Relationship Id="rId7" Type="http://schemas.openxmlformats.org/officeDocument/2006/relationships/hyperlink" Target="https://trello.com/?utm_source=chatgpt.com" TargetMode="External"/><Relationship Id="rId8" Type="http://schemas.openxmlformats.org/officeDocument/2006/relationships/hyperlink" Target="https://trello.com/?utm_source=chatgpt.com" TargetMode="Externa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hyperlink" Target="https://calendar.google.com/?utm_source=chatgpt.com" TargetMode="External"/><Relationship Id="rId10" Type="http://schemas.openxmlformats.org/officeDocument/2006/relationships/hyperlink" Target="https://slack.com/?utm_source=chatgpt.com" TargetMode="External"/><Relationship Id="rId12" Type="http://schemas.openxmlformats.org/officeDocument/2006/relationships/hyperlink" Target="https://calendar.google.com/?utm_source=chatgpt.com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?utm_source=chatgpt.com" TargetMode="External"/><Relationship Id="rId4" Type="http://schemas.openxmlformats.org/officeDocument/2006/relationships/hyperlink" Target="https://github.com/?utm_source=chatgpt.com" TargetMode="External"/><Relationship Id="rId9" Type="http://schemas.openxmlformats.org/officeDocument/2006/relationships/hyperlink" Target="https://slack.com/?utm_source=chatgpt.com" TargetMode="External"/><Relationship Id="rId5" Type="http://schemas.openxmlformats.org/officeDocument/2006/relationships/hyperlink" Target="https://www.atlassian.com/software/jira?utm_source=chatgpt.com" TargetMode="External"/><Relationship Id="rId6" Type="http://schemas.openxmlformats.org/officeDocument/2006/relationships/hyperlink" Target="https://www.atlassian.com/software/jira?utm_source=chatgpt.com" TargetMode="External"/><Relationship Id="rId7" Type="http://schemas.openxmlformats.org/officeDocument/2006/relationships/hyperlink" Target="https://trello.com/?utm_source=chatgpt.com" TargetMode="External"/><Relationship Id="rId8" Type="http://schemas.openxmlformats.org/officeDocument/2006/relationships/hyperlink" Target="https://trello.com/?utm_source=chatgpt.com" TargetMode="External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hyperlink" Target="https://calendar.google.com/?utm_source=chatgpt.com" TargetMode="External"/><Relationship Id="rId10" Type="http://schemas.openxmlformats.org/officeDocument/2006/relationships/hyperlink" Target="https://slack.com/?utm_source=chatgpt.com" TargetMode="External"/><Relationship Id="rId12" Type="http://schemas.openxmlformats.org/officeDocument/2006/relationships/hyperlink" Target="https://calendar.google.com/?utm_source=chatgpt.com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?utm_source=chatgpt.com" TargetMode="External"/><Relationship Id="rId4" Type="http://schemas.openxmlformats.org/officeDocument/2006/relationships/hyperlink" Target="https://github.com/?utm_source=chatgpt.com" TargetMode="External"/><Relationship Id="rId9" Type="http://schemas.openxmlformats.org/officeDocument/2006/relationships/hyperlink" Target="https://slack.com/?utm_source=chatgpt.com" TargetMode="External"/><Relationship Id="rId5" Type="http://schemas.openxmlformats.org/officeDocument/2006/relationships/hyperlink" Target="https://www.atlassian.com/software/jira?utm_source=chatgpt.com" TargetMode="External"/><Relationship Id="rId6" Type="http://schemas.openxmlformats.org/officeDocument/2006/relationships/hyperlink" Target="https://www.atlassian.com/software/jira?utm_source=chatgpt.com" TargetMode="External"/><Relationship Id="rId7" Type="http://schemas.openxmlformats.org/officeDocument/2006/relationships/hyperlink" Target="https://trello.com/?utm_source=chatgpt.com" TargetMode="External"/><Relationship Id="rId8" Type="http://schemas.openxmlformats.org/officeDocument/2006/relationships/hyperlink" Target="https://trello.com/?utm_source=chatgpt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kammarohan55-crypto/samsung-prism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40504" l="35216" r="35722" t="9860"/>
          <a:stretch/>
        </p:blipFill>
        <p:spPr>
          <a:xfrm>
            <a:off x="7770663" y="1416819"/>
            <a:ext cx="4421349" cy="563823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CLASH OF THE</a:t>
            </a:r>
            <a:endParaRPr b="1" i="0" sz="2000" u="none" cap="none" strike="noStrike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600" u="none" cap="none" strike="noStrik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CLAWS</a:t>
            </a:r>
            <a:endParaRPr b="0" i="0" sz="3600" u="none" cap="none" strike="noStrike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582875" y="1335925"/>
            <a:ext cx="72495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RV College Of Engineering</a:t>
            </a:r>
            <a:endParaRPr b="1" sz="3000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Neural Nomics</a:t>
            </a:r>
            <a:endParaRPr b="1" sz="3000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Integrated Team Intelligence System</a:t>
            </a:r>
            <a:r>
              <a:rPr b="1" i="0" lang="en-IN" sz="3000" u="none" cap="none" strike="noStrik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endParaRPr b="1" i="0" sz="3000" u="none" cap="none" strike="noStrike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3800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Avyaya S Yekkar - 1RV24CS057</a:t>
            </a:r>
            <a:endParaRPr b="1" sz="3800">
              <a:solidFill>
                <a:schemeClr val="dk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IN" sz="3800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Bhuvan K K - 1RV24CS060</a:t>
            </a:r>
            <a:endParaRPr b="1" sz="3800">
              <a:solidFill>
                <a:schemeClr val="dk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800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Chidanand Gowda - 1RV24CS067</a:t>
            </a:r>
            <a:endParaRPr b="1" sz="3800">
              <a:solidFill>
                <a:schemeClr val="dk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800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Kamma Rohan - 1RV24CD026</a:t>
            </a:r>
            <a:endParaRPr b="1" sz="3800">
              <a:solidFill>
                <a:schemeClr val="dk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93" name="Google Shape;93;p14"/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94" name="Google Shape;94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7355" y="133834"/>
              <a:ext cx="974396" cy="639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4"/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1800" u="none" cap="none" strike="noStrike">
                  <a:solidFill>
                    <a:schemeClr val="dk1"/>
                  </a:solidFill>
                  <a:latin typeface="Overlock"/>
                  <a:ea typeface="Overlock"/>
                  <a:cs typeface="Overlock"/>
                  <a:sym typeface="Overlock"/>
                </a:rPr>
                <a:t>| Tech Management, SRI-B</a:t>
              </a:r>
              <a:endParaRPr b="1" i="0" sz="1800" u="none" cap="none" strike="noStrik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566511" y="1575729"/>
            <a:ext cx="11079000" cy="46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🎯 </a:t>
            </a:r>
            <a:r>
              <a:rPr b="1" lang="en-IN">
                <a:solidFill>
                  <a:schemeClr val="dk1"/>
                </a:solidFill>
              </a:rPr>
              <a:t>Theme Selected: Productivity Platforms + Generative AI</a:t>
            </a:r>
            <a:r>
              <a:rPr lang="en-IN">
                <a:solidFill>
                  <a:schemeClr val="dk1"/>
                </a:solidFill>
              </a:rPr>
              <a:t> — We chose this theme to solve the growing challenge of disconnected workplace tools, inefficient onboarding, and lack of unified productivity intelligence in modern organizations.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❗ </a:t>
            </a:r>
            <a:r>
              <a:rPr b="1" lang="en-IN">
                <a:solidFill>
                  <a:schemeClr val="dk1"/>
                </a:solidFill>
              </a:rPr>
              <a:t>Problem Being Solved</a:t>
            </a:r>
            <a:r>
              <a:rPr lang="en-IN">
                <a:solidFill>
                  <a:schemeClr val="dk1"/>
                </a:solidFill>
              </a:rPr>
              <a:t> — Existing systems separately manage onboarding, communication, task tracking, and analytics, leading to fragmented workflows, delayed employee adaptation, poor operational visibility, and inefficient collaboration.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👥 </a:t>
            </a:r>
            <a:r>
              <a:rPr b="1" lang="en-IN">
                <a:solidFill>
                  <a:schemeClr val="dk1"/>
                </a:solidFill>
              </a:rPr>
              <a:t>Target Users (Personas)</a:t>
            </a:r>
            <a:r>
              <a:rPr lang="en-IN">
                <a:solidFill>
                  <a:schemeClr val="dk1"/>
                </a:solidFill>
              </a:rPr>
              <a:t> — Our platform is designed for: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IN">
                <a:solidFill>
                  <a:schemeClr val="dk1"/>
                </a:solidFill>
              </a:rPr>
              <a:t>🧑‍💻 New employees who need onboarding guidance and company knowledge assistance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IN">
                <a:solidFill>
                  <a:schemeClr val="dk1"/>
                </a:solidFill>
              </a:rPr>
              <a:t>👨‍💼 Managers and team leads who need productivity insights and bottleneck detection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IN">
                <a:solidFill>
                  <a:schemeClr val="dk1"/>
                </a:solidFill>
              </a:rPr>
              <a:t>🏢 HR and organizations seeking scalable employee support and operational efficiency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💡 </a:t>
            </a:r>
            <a:r>
              <a:rPr b="1" lang="en-IN">
                <a:solidFill>
                  <a:schemeClr val="dk1"/>
                </a:solidFill>
              </a:rPr>
              <a:t>Our Solution: ITIE (Integrated Team Intelligence Ecosystem)</a:t>
            </a:r>
            <a:r>
              <a:rPr lang="en-IN">
                <a:solidFill>
                  <a:schemeClr val="dk1"/>
                </a:solidFill>
              </a:rPr>
              <a:t> — An AI-powered ecosystem that combines an onboarding assistant, productivity analytics dashboard, telemetry ingestion, and intelligent orchestration into one unified platform.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🤖 </a:t>
            </a:r>
            <a:r>
              <a:rPr b="1" lang="en-IN">
                <a:solidFill>
                  <a:schemeClr val="dk1"/>
                </a:solidFill>
              </a:rPr>
              <a:t>Core Technologies &amp; Features Developed</a:t>
            </a:r>
            <a:r>
              <a:rPr lang="en-IN">
                <a:solidFill>
                  <a:schemeClr val="dk1"/>
                </a:solidFill>
              </a:rPr>
              <a:t> — OpenClaw-based multi-agent orchestration, RAG-powered onboarding assistant, GitHub/Jira/Slack/Google Calendar integrations, AI-generated summaries, anomaly detection, onboarding tracking, and real-time productivity analytics.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🔄 </a:t>
            </a:r>
            <a:r>
              <a:rPr b="1" lang="en-IN">
                <a:solidFill>
                  <a:schemeClr val="dk1"/>
                </a:solidFill>
              </a:rPr>
              <a:t>Key Innovation</a:t>
            </a:r>
            <a:r>
              <a:rPr lang="en-IN">
                <a:solidFill>
                  <a:schemeClr val="dk1"/>
                </a:solidFill>
              </a:rPr>
              <a:t> — Unlike traditional productivity tools, ITIE creates a bidirectional learning loop where onboarding interactions and workplace activity continuously improve organizational intelligence, recommendations, and workflow optimization.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🌍 </a:t>
            </a:r>
            <a:r>
              <a:rPr b="1" lang="en-IN">
                <a:solidFill>
                  <a:schemeClr val="dk1"/>
                </a:solidFill>
              </a:rPr>
              <a:t>Impact &amp; Value</a:t>
            </a:r>
            <a:r>
              <a:rPr lang="en-IN">
                <a:solidFill>
                  <a:schemeClr val="dk1"/>
                </a:solidFill>
              </a:rPr>
              <a:t> — The system enables faster onboarding, improved team visibility, AI-driven decision-making, workload awareness, reduced operational bottlenecks, and scalable privacy-first productivity management for modern teams.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Solution &amp; Gaps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609604" y="1524000"/>
            <a:ext cx="113256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Existing workplace solutions such as</a:t>
            </a:r>
            <a:r>
              <a:rPr lang="en-IN" sz="18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800" u="sng">
                <a:solidFill>
                  <a:schemeClr val="hlink"/>
                </a:solidFill>
                <a:hlinkClick r:id="rId4"/>
              </a:rPr>
              <a:t>Slack</a:t>
            </a:r>
            <a:r>
              <a:rPr lang="en-IN" sz="1800">
                <a:solidFill>
                  <a:schemeClr val="dk1"/>
                </a:solidFill>
              </a:rPr>
              <a:t>,</a:t>
            </a:r>
            <a:r>
              <a:rPr lang="en-IN" sz="18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800" u="sng">
                <a:solidFill>
                  <a:schemeClr val="hlink"/>
                </a:solidFill>
                <a:hlinkClick r:id="rId6"/>
              </a:rPr>
              <a:t>Jira</a:t>
            </a:r>
            <a:r>
              <a:rPr lang="en-IN" sz="1800">
                <a:solidFill>
                  <a:schemeClr val="dk1"/>
                </a:solidFill>
              </a:rPr>
              <a:t>,</a:t>
            </a:r>
            <a:r>
              <a:rPr lang="en-IN" sz="18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800" u="sng">
                <a:solidFill>
                  <a:schemeClr val="hlink"/>
                </a:solidFill>
                <a:hlinkClick r:id="rId8"/>
              </a:rPr>
              <a:t>Trello</a:t>
            </a:r>
            <a:r>
              <a:rPr lang="en-IN" sz="1800">
                <a:solidFill>
                  <a:schemeClr val="dk1"/>
                </a:solidFill>
              </a:rPr>
              <a:t>,</a:t>
            </a:r>
            <a:r>
              <a:rPr lang="en-IN" sz="18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800" u="sng">
                <a:solidFill>
                  <a:schemeClr val="hlink"/>
                </a:solidFill>
                <a:hlinkClick r:id="rId10"/>
              </a:rPr>
              <a:t>GitHub</a:t>
            </a:r>
            <a:r>
              <a:rPr lang="en-IN" sz="1800">
                <a:solidFill>
                  <a:schemeClr val="dk1"/>
                </a:solidFill>
              </a:rPr>
              <a:t>, and HR onboarding platforms effectively handle individual tasks like communication, project management, development tracking, and employee onboarding, but they operate as isolated systems.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Current platforms provide fragmented user experiences where onboarding, productivity tracking, communication, and analytics are disconnected, forcing employees and managers to switch between multiple tools without a unified operational view.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Most existing dashboards focus on displaying raw metrics such as commits, tickets, or meetings, but lack contextual intelligence, actionable insights, and AI-driven recommendations that help organizations make informed decisions.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Existing onboarding systems are largely static and manual, offering limited personalization, minimal real-time assistance, and no intelligent connection between onboarding progress and overall team productivity.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There is currently a significant gap for a centralized AI-powered ecosystem that can intelligently integrate onboarding support, telemetry analysis, workflow orchestration, and organizational productivity insights into a single scalable platform.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ITIE addresses this gap by combining OpenClaw-based multi-agent orchestration, RAG-powered onboarding assistance, real-time productivity analytics, and cross-platform integrations to create an intelligent, connected, and insight-driven productivity ecosystem for modern organizations.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Solutions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740500" y="1682950"/>
            <a:ext cx="109728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We built an Integrated Team Intelligence Ecosystem (ITIE), an AI-powered platform that combines intelligent employee onboarding, productivity analytics, workflow orchestration, and organizational insights into a unified system.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The core idea behind the platform is to create a bidirectional intelligence loop where onboarding interactions, workplace activities, and operational signals continuously contribute to improving organizational awareness, recommendations, and team efficiency.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The system uses OpenClaw as the central orchestration layer to route requests between specialized worker agents responsible for onboarding assistance, telemetry analysis, document retrieval, task intelligence, and productivity monitoring.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A RAG-powered onboarding assistant enables employees to receive grounded, context-aware answers from company and HR documents, while also managing onboarding checklists, reminders, and guidance workflows.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The platform integrates with external services such as</a:t>
            </a:r>
            <a:r>
              <a:rPr lang="en-IN" sz="18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800" u="sng">
                <a:solidFill>
                  <a:schemeClr val="hlink"/>
                </a:solidFill>
                <a:hlinkClick r:id="rId4"/>
              </a:rPr>
              <a:t>GitHub</a:t>
            </a:r>
            <a:r>
              <a:rPr lang="en-IN" sz="1800">
                <a:solidFill>
                  <a:schemeClr val="dk1"/>
                </a:solidFill>
              </a:rPr>
              <a:t>,</a:t>
            </a:r>
            <a:r>
              <a:rPr lang="en-IN" sz="18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800" u="sng">
                <a:solidFill>
                  <a:schemeClr val="hlink"/>
                </a:solidFill>
                <a:hlinkClick r:id="rId6"/>
              </a:rPr>
              <a:t>Jira</a:t>
            </a:r>
            <a:r>
              <a:rPr lang="en-IN" sz="1800">
                <a:solidFill>
                  <a:schemeClr val="dk1"/>
                </a:solidFill>
              </a:rPr>
              <a:t> /</a:t>
            </a:r>
            <a:r>
              <a:rPr lang="en-IN" sz="18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800" u="sng">
                <a:solidFill>
                  <a:schemeClr val="hlink"/>
                </a:solidFill>
                <a:hlinkClick r:id="rId8"/>
              </a:rPr>
              <a:t>Trello</a:t>
            </a:r>
            <a:r>
              <a:rPr lang="en-IN" sz="1800">
                <a:solidFill>
                  <a:schemeClr val="dk1"/>
                </a:solidFill>
              </a:rPr>
              <a:t>,</a:t>
            </a:r>
            <a:r>
              <a:rPr lang="en-IN" sz="18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800" u="sng">
                <a:solidFill>
                  <a:schemeClr val="hlink"/>
                </a:solidFill>
                <a:hlinkClick r:id="rId10"/>
              </a:rPr>
              <a:t>Slack</a:t>
            </a:r>
            <a:r>
              <a:rPr lang="en-IN" sz="1800">
                <a:solidFill>
                  <a:schemeClr val="dk1"/>
                </a:solidFill>
              </a:rPr>
              <a:t>, and</a:t>
            </a:r>
            <a:r>
              <a:rPr lang="en-IN" sz="1800">
                <a:solidFill>
                  <a:schemeClr val="dk1"/>
                </a:solidFill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800" u="sng">
                <a:solidFill>
                  <a:schemeClr val="hlink"/>
                </a:solidFill>
                <a:hlinkClick r:id="rId12"/>
              </a:rPr>
              <a:t>Google Calendar</a:t>
            </a:r>
            <a:r>
              <a:rPr lang="en-IN" sz="1800">
                <a:solidFill>
                  <a:schemeClr val="dk1"/>
                </a:solidFill>
              </a:rPr>
              <a:t> to collect telemetry data including commits, tickets, meetings, and collaboration activity.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Key features include AI-generated weekly summaries, onboarding progress tracking, anomaly and bottleneck detection, workload analysis, productivity insights, role-based dashboards, secure orchestration, persistent memory, and privacy-first analytics.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Demo/Product Walkthrough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740504" y="1682950"/>
            <a:ext cx="11166000" cy="47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The user journey begins with a secure login system where users authenticate based on their organizational role such as New Hire, Manager, or Admin, enabling role-based access to onboarding tools, analytics, and management features.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A new employee interacts with the AI onboarding assistant through the chatbot interface to ask company-related questions, access onboarding checklists, receive reminders, and retrieve policy-based answers generated using RAG over company documents.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The onboarding workflow guides users through key tasks such as account setup, training completion, policy understanding, and progress tracking while continuously storing onboarding state and interaction history.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Managers interact with the analytics dashboard to monitor productivity trends, onboarding progress, meeting load, ticket flow, workload balance, and burnout indicators generated from normalized telemetry data.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The system processes telemetry signals from simulated integrations such as</a:t>
            </a:r>
            <a:r>
              <a:rPr lang="en-IN" sz="16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600" u="sng">
                <a:solidFill>
                  <a:schemeClr val="hlink"/>
                </a:solidFill>
                <a:hlinkClick r:id="rId4"/>
              </a:rPr>
              <a:t>GitHub</a:t>
            </a:r>
            <a:r>
              <a:rPr lang="en-IN" sz="1600">
                <a:solidFill>
                  <a:schemeClr val="dk1"/>
                </a:solidFill>
              </a:rPr>
              <a:t>,</a:t>
            </a:r>
            <a:r>
              <a:rPr lang="en-IN" sz="16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600" u="sng">
                <a:solidFill>
                  <a:schemeClr val="hlink"/>
                </a:solidFill>
                <a:hlinkClick r:id="rId6"/>
              </a:rPr>
              <a:t>Jira</a:t>
            </a:r>
            <a:r>
              <a:rPr lang="en-IN" sz="1600">
                <a:solidFill>
                  <a:schemeClr val="dk1"/>
                </a:solidFill>
              </a:rPr>
              <a:t> /</a:t>
            </a:r>
            <a:r>
              <a:rPr lang="en-IN" sz="16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600" u="sng">
                <a:solidFill>
                  <a:schemeClr val="hlink"/>
                </a:solidFill>
                <a:hlinkClick r:id="rId8"/>
              </a:rPr>
              <a:t>Trello</a:t>
            </a:r>
            <a:r>
              <a:rPr lang="en-IN" sz="1600">
                <a:solidFill>
                  <a:schemeClr val="dk1"/>
                </a:solidFill>
              </a:rPr>
              <a:t>,</a:t>
            </a:r>
            <a:r>
              <a:rPr lang="en-IN" sz="16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600" u="sng">
                <a:solidFill>
                  <a:schemeClr val="hlink"/>
                </a:solidFill>
                <a:hlinkClick r:id="rId10"/>
              </a:rPr>
              <a:t>Slack</a:t>
            </a:r>
            <a:r>
              <a:rPr lang="en-IN" sz="1600">
                <a:solidFill>
                  <a:schemeClr val="dk1"/>
                </a:solidFill>
              </a:rPr>
              <a:t>, and</a:t>
            </a:r>
            <a:r>
              <a:rPr lang="en-IN" sz="1600">
                <a:solidFill>
                  <a:schemeClr val="dk1"/>
                </a:solidFill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600" u="sng">
                <a:solidFill>
                  <a:schemeClr val="hlink"/>
                </a:solidFill>
                <a:hlinkClick r:id="rId12"/>
              </a:rPr>
              <a:t>Google Calendar</a:t>
            </a:r>
            <a:r>
              <a:rPr lang="en-IN" sz="1600">
                <a:solidFill>
                  <a:schemeClr val="dk1"/>
                </a:solidFill>
              </a:rPr>
              <a:t> to generate AI-powered summaries, alerts, and productivity insights visible within the dashboard.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Key demo moments include onboarding question answering with citations, onboarding checklist progression, generation of telemetry data through the Admin Panel, real-time dashboard updates, burnout or overload alerts, role-based dashboard switching, and AI-generated productivity summaries.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&amp; Architecture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650" y="1524000"/>
            <a:ext cx="10722900" cy="484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 &amp; Use cases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740504" y="1682950"/>
            <a:ext cx="10842000" cy="42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dk1"/>
                </a:solidFill>
              </a:rPr>
              <a:t>1. New Hire Day-1 Acceleration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Alex (fresh grad) joins the team. Within 2 hours, he gets accurate answers to policy &amp; process questions with document citations and completes 70% of his onboarding checklist.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chemeClr val="dk1"/>
                </a:solidFill>
              </a:rPr>
              <a:t>Impact</a:t>
            </a:r>
            <a:r>
              <a:rPr lang="en-IN">
                <a:solidFill>
                  <a:schemeClr val="dk1"/>
                </a:solidFill>
              </a:rPr>
              <a:t>: Reduces time-to-productivity from weeks to days.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dk1"/>
                </a:solidFill>
              </a:rPr>
              <a:t>2. Manager’s Proactive Insights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Sarah opens her Monday dashboard and sees AI-generated weekly summary + team health indicators. Spots high meeting load &amp; velocity drop for 2 engineers and takes immediate action.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chemeClr val="dk1"/>
                </a:solidFill>
              </a:rPr>
              <a:t>Impact</a:t>
            </a:r>
            <a:r>
              <a:rPr lang="en-IN">
                <a:solidFill>
                  <a:schemeClr val="dk1"/>
                </a:solidFill>
              </a:rPr>
              <a:t>: Prevents burnout and missed deadlines.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dk1"/>
                </a:solidFill>
              </a:rPr>
              <a:t>3. HR Efficiency Boost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Priya manages onboarding for 45 new hires. ITIS auto-ingests policies, tracks completion in real-time, and sends gentle reminders.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chemeClr val="dk1"/>
                </a:solidFill>
              </a:rPr>
              <a:t>Impact</a:t>
            </a:r>
            <a:r>
              <a:rPr lang="en-IN">
                <a:solidFill>
                  <a:schemeClr val="dk1"/>
                </a:solidFill>
              </a:rPr>
              <a:t>: Cuts manual follow-ups by ~65%.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dk1"/>
                </a:solidFill>
              </a:rPr>
              <a:t>4. Burnout Prevention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System flags sustained high workload patterns (metadata only) during crunch periods and suggests focus-time interventions.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IN">
                <a:solidFill>
                  <a:schemeClr val="dk1"/>
                </a:solidFill>
              </a:rPr>
              <a:t>Impact</a:t>
            </a:r>
            <a:r>
              <a:rPr lang="en-IN">
                <a:solidFill>
                  <a:schemeClr val="dk1"/>
                </a:solidFill>
              </a:rPr>
              <a:t>: Improves retention and team wellbeing.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Differentiation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609700" y="1521585"/>
            <a:ext cx="10972800" cy="54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chemeClr val="dk1"/>
                </a:solidFill>
              </a:rPr>
              <a:t>1. True OpenClaw-Native Multi-Agent Orchestration (Core MOAT)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Built from the ground up on </a:t>
            </a:r>
            <a:r>
              <a:rPr b="1" lang="en-IN">
                <a:solidFill>
                  <a:schemeClr val="dk1"/>
                </a:solidFill>
              </a:rPr>
              <a:t>OpenClaw 2026.5.4</a:t>
            </a:r>
            <a:r>
              <a:rPr lang="en-IN">
                <a:solidFill>
                  <a:schemeClr val="dk1"/>
                </a:solidFill>
              </a:rPr>
              <a:t> with a dedicated </a:t>
            </a:r>
            <a:r>
              <a:rPr b="1" lang="en-IN">
                <a:solidFill>
                  <a:schemeClr val="dk1"/>
                </a:solidFill>
              </a:rPr>
              <a:t>Orchestrator (SOUL)</a:t>
            </a:r>
            <a:r>
              <a:rPr lang="en-IN">
                <a:solidFill>
                  <a:schemeClr val="dk1"/>
                </a:solidFill>
              </a:rPr>
              <a:t> + </a:t>
            </a:r>
            <a:r>
              <a:rPr b="1" lang="en-IN">
                <a:solidFill>
                  <a:schemeClr val="dk1"/>
                </a:solidFill>
              </a:rPr>
              <a:t>4 specialized domain workers</a:t>
            </a:r>
            <a:r>
              <a:rPr lang="en-IN">
                <a:solidFill>
                  <a:schemeClr val="dk1"/>
                </a:solidFill>
              </a:rPr>
              <a:t> (Onboarding-RAG, Telemetry-Analyzer, Checklist-Manager, Insights-Synthesizer).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Not just a chatbot with plugins — this is </a:t>
            </a:r>
            <a:r>
              <a:rPr b="1" lang="en-IN">
                <a:solidFill>
                  <a:schemeClr val="dk1"/>
                </a:solidFill>
              </a:rPr>
              <a:t>real agentic workflow orchestration</a:t>
            </a:r>
            <a:r>
              <a:rPr lang="en-IN">
                <a:solidFill>
                  <a:schemeClr val="dk1"/>
                </a:solidFill>
              </a:rPr>
              <a:t>. The orchestrator intelligently routes, decomposes, and synthesizes complex requests across agents.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Deterministic skills, persistent memory, and structured tool calling deliver reliable, enterprise-grade behavior instead of flaky single-agent responses.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chemeClr val="dk1"/>
                </a:solidFill>
              </a:rPr>
              <a:t>2. Privacy-First + Bidirectional Intelligence (Strong Defensive Moat)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IN">
                <a:solidFill>
                  <a:schemeClr val="dk1"/>
                </a:solidFill>
              </a:rPr>
              <a:t>Metadata-only telemetry</a:t>
            </a:r>
            <a:r>
              <a:rPr lang="en-IN">
                <a:solidFill>
                  <a:schemeClr val="dk1"/>
                </a:solidFill>
              </a:rPr>
              <a:t> — never reads message content, only event patterns (PRs, tickets, meetings, commits).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Onboarding interactions automatically enrich team intelligence, and team insights help personalize onboarding — creating a </a:t>
            </a:r>
            <a:r>
              <a:rPr b="1" lang="en-IN">
                <a:solidFill>
                  <a:schemeClr val="dk1"/>
                </a:solidFill>
              </a:rPr>
              <a:t>virtuous learning loop</a:t>
            </a:r>
            <a:r>
              <a:rPr lang="en-I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Full </a:t>
            </a:r>
            <a:r>
              <a:rPr b="1" lang="en-IN">
                <a:solidFill>
                  <a:schemeClr val="dk1"/>
                </a:solidFill>
              </a:rPr>
              <a:t>tenant isolation</a:t>
            </a:r>
            <a:r>
              <a:rPr lang="en-IN">
                <a:solidFill>
                  <a:schemeClr val="dk1"/>
                </a:solidFill>
              </a:rPr>
              <a:t>, comprehensive audit logging, RBAC, and secret protection built into the architecture.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chemeClr val="dk1"/>
                </a:solidFill>
              </a:rPr>
              <a:t>3. Citation-Grounded RAG + Role-Aware Experiences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Every policy/knowledge answer is backed by </a:t>
            </a:r>
            <a:r>
              <a:rPr b="1" lang="en-IN">
                <a:solidFill>
                  <a:schemeClr val="dk1"/>
                </a:solidFill>
              </a:rPr>
              <a:t>LanceDB vector search + source citations</a:t>
            </a:r>
            <a:r>
              <a:rPr lang="en-IN">
                <a:solidFill>
                  <a:schemeClr val="dk1"/>
                </a:solidFill>
              </a:rPr>
              <a:t> — zero tolerance for hallucinations on critical company information.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Deep role-based personalization: New hires see guided checklists and contextual help; Managers get actionable team health insights; Admins control ingestion and governance.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Link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740500" y="1682950"/>
            <a:ext cx="9544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Repo - </a:t>
            </a:r>
            <a:r>
              <a:rPr lang="en-IN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https://github.com/kammarohan55-crypto/samsung-prism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Link - </a:t>
            </a:r>
            <a:endParaRPr sz="2400"/>
          </a:p>
        </p:txBody>
      </p:sp>
      <p:pic>
        <p:nvPicPr>
          <p:cNvPr id="181" name="Google Shape;181;p22" title="Untitled 1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0325" y="2526150"/>
            <a:ext cx="2356125" cy="235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